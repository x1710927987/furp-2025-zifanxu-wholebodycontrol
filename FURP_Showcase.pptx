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396325" cy="30267275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4" d="100"/>
          <a:sy n="24" d="100"/>
        </p:scale>
        <p:origin x="2408" y="-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895B-67EB-4012-BFBF-162E7CC47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4725" y="4953466"/>
            <a:ext cx="18186876" cy="10537496"/>
          </a:xfrm>
        </p:spPr>
        <p:txBody>
          <a:bodyPr anchor="b"/>
          <a:lstStyle>
            <a:lvl1pPr algn="ctr">
              <a:buNone/>
              <a:defRPr sz="14039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C72E7-6484-4960-99AB-31C7885E5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541" y="15897328"/>
            <a:ext cx="16047244" cy="7307583"/>
          </a:xfrm>
        </p:spPr>
        <p:txBody>
          <a:bodyPr/>
          <a:lstStyle>
            <a:lvl1pPr marL="0" indent="0" algn="ctr">
              <a:buNone/>
              <a:defRPr sz="5616"/>
            </a:lvl1pPr>
            <a:lvl2pPr marL="1069802" indent="0" algn="ctr">
              <a:buNone/>
              <a:defRPr sz="4680"/>
            </a:lvl2pPr>
            <a:lvl3pPr marL="2139605" indent="0" algn="ctr">
              <a:buNone/>
              <a:defRPr sz="4212"/>
            </a:lvl3pPr>
            <a:lvl4pPr marL="3209407" indent="0" algn="ctr">
              <a:buNone/>
              <a:defRPr sz="3744"/>
            </a:lvl4pPr>
            <a:lvl5pPr marL="4279209" indent="0" algn="ctr">
              <a:buNone/>
              <a:defRPr sz="3744"/>
            </a:lvl5pPr>
            <a:lvl6pPr marL="5349011" indent="0" algn="ctr">
              <a:buNone/>
              <a:defRPr sz="3744"/>
            </a:lvl6pPr>
            <a:lvl7pPr marL="6418814" indent="0" algn="ctr">
              <a:buNone/>
              <a:defRPr sz="3744"/>
            </a:lvl7pPr>
            <a:lvl8pPr marL="7488616" indent="0" algn="ctr">
              <a:buNone/>
              <a:defRPr sz="3744"/>
            </a:lvl8pPr>
            <a:lvl9pPr marL="8558418" indent="0" algn="ctr">
              <a:buNone/>
              <a:defRPr sz="3744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CCA26-B524-4155-8B59-AEA3A50B16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2026/10/17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2A51B-9B84-482B-8D60-A3B7563E86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D767A-F077-428C-B28F-CFC9004634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F2532-EFDA-4FFC-AC64-B53CEC66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02B9C-51C9-408B-8954-E4A9F06C8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6B8A9-DEFD-4436-B5F8-6EB9E5ACF4B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2026/10/17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4BF50-F23E-40BF-BCEB-5883500BDA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87568-2A0E-4A78-BF06-D8A1FE76FC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15824-3629-4553-B0C8-E474C076E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855" y="7545809"/>
            <a:ext cx="18454330" cy="12590343"/>
          </a:xfrm>
        </p:spPr>
        <p:txBody>
          <a:bodyPr anchor="b"/>
          <a:lstStyle>
            <a:lvl1pPr>
              <a:buNone/>
              <a:defRPr sz="14039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F8921-02A8-46F9-9751-640006B7F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9855" y="20255262"/>
            <a:ext cx="18454330" cy="6620964"/>
          </a:xfrm>
        </p:spPr>
        <p:txBody>
          <a:bodyPr/>
          <a:lstStyle>
            <a:lvl1pPr marL="0" indent="0">
              <a:buNone/>
              <a:defRPr sz="5616">
                <a:solidFill>
                  <a:schemeClr val="tx1"/>
                </a:solidFill>
              </a:defRPr>
            </a:lvl1pPr>
            <a:lvl2pPr marL="1069802" indent="0">
              <a:buNone/>
              <a:defRPr sz="4680">
                <a:solidFill>
                  <a:schemeClr val="tx1">
                    <a:tint val="75000"/>
                  </a:schemeClr>
                </a:solidFill>
              </a:defRPr>
            </a:lvl2pPr>
            <a:lvl3pPr marL="2139605" indent="0">
              <a:buNone/>
              <a:defRPr sz="4212">
                <a:solidFill>
                  <a:schemeClr val="tx1">
                    <a:tint val="75000"/>
                  </a:schemeClr>
                </a:solidFill>
              </a:defRPr>
            </a:lvl3pPr>
            <a:lvl4pPr marL="3209407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4pPr>
            <a:lvl5pPr marL="4279209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5pPr>
            <a:lvl6pPr marL="5349011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6pPr>
            <a:lvl7pPr marL="6418814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7pPr>
            <a:lvl8pPr marL="7488616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8pPr>
            <a:lvl9pPr marL="8558418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1D604-25DE-4AF8-9FAE-C5B00FAAE7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2026/10/17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51DC8-989E-4EA4-9E87-BCB73629D0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2AA36-F6E5-40BB-BB24-BE656D742E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5923B-EBCA-4CFC-B6E4-859DA00C2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1885E-4B19-45C2-8BCC-A28748746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0997" y="8057261"/>
            <a:ext cx="9093438" cy="19204308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21B1F-9293-433F-BCFF-5FF5577AD21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0831890" y="8057261"/>
            <a:ext cx="9093438" cy="19204308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37D44-1735-46A2-97C2-96B3DFF2E2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2026/10/17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E53DE-2082-43E1-A8E1-16EAFBE6D5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7220-0DAC-47E8-A695-F39060B561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E0908-E789-4812-AB27-BF540495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84" y="1611459"/>
            <a:ext cx="18454330" cy="585027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0C420-7BBA-4C30-BD53-CAE48205F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787" y="7419688"/>
            <a:ext cx="9051647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A7D19-97E8-42F5-90C8-3C8A2CD6C01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73787" y="11055963"/>
            <a:ext cx="9051647" cy="16261656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38413-1619-417C-8B55-4D0A831C9B3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0831891" y="7419688"/>
            <a:ext cx="9096225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1718D-B8BA-4612-AD34-AF1A7718CB65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0831891" y="11055963"/>
            <a:ext cx="9096225" cy="16261656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02DE8-422A-4AE8-A900-5E4BE9B22CC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2026/10/17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2F2A2D-9DB3-493C-A4E3-5C3D7E621B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95A34-6ACE-4DF7-8662-B6ED7CA894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263E-AEFB-49E0-B1E6-9DE5EC50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FEE25-4C8A-40C6-BE0E-C21E58D0B9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2026/10/17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7F5013-17C0-4193-9353-B512DE0D51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E5740-7152-4647-ADA5-EE36BE9A64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1F991-243C-4F90-AABA-1E8424F15E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2026/10/17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B52F07-1F08-4EB2-B99B-67C46B17FD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B0897-4E5B-4FEB-B8D3-447AD33E06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CAD32-9D66-40B1-B0A7-F4215EB7F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buNone/>
              <a:defRPr sz="7488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8497D-F2B9-495A-9668-305227388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6225" y="4357934"/>
            <a:ext cx="10831890" cy="21509383"/>
          </a:xfrm>
        </p:spPr>
        <p:txBody>
          <a:bodyPr/>
          <a:lstStyle>
            <a:lvl1pPr>
              <a:buNone/>
              <a:defRPr sz="7488"/>
            </a:lvl1pPr>
            <a:lvl2pPr>
              <a:buNone/>
              <a:defRPr sz="6552"/>
            </a:lvl2pPr>
            <a:lvl3pPr>
              <a:buNone/>
              <a:defRPr sz="5616"/>
            </a:lvl3pPr>
            <a:lvl4pPr>
              <a:buNone/>
              <a:defRPr sz="4680"/>
            </a:lvl4pPr>
            <a:lvl5pPr>
              <a:buNone/>
              <a:defRPr sz="4680"/>
            </a:lvl5pPr>
            <a:lvl6pPr>
              <a:buNone/>
              <a:defRPr sz="4680"/>
            </a:lvl6pPr>
            <a:lvl7pPr>
              <a:buNone/>
              <a:defRPr sz="4680"/>
            </a:lvl7pPr>
            <a:lvl8pPr>
              <a:buNone/>
              <a:defRPr sz="4680"/>
            </a:lvl8pPr>
            <a:lvl9pPr>
              <a:buNone/>
              <a:defRPr sz="4680"/>
            </a:lvl9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B69C2-AF93-4B71-B799-54629042131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E9135-DE3E-46B0-AE8F-F0389D22F7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2026/10/17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3E048-6F3C-421C-9326-B57D9DB490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92882-416C-4373-A7D8-AC0A31EE41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8AA7-62EF-4CF4-BF92-C6471E9C4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buNone/>
              <a:defRPr sz="7488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0059B1-B422-4457-A925-6F0B42CFF0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096225" y="4357934"/>
            <a:ext cx="10831890" cy="21509383"/>
          </a:xfrm>
        </p:spPr>
        <p:txBody>
          <a:bodyPr anchor="t"/>
          <a:lstStyle>
            <a:lvl1pPr marL="0" indent="0">
              <a:buNone/>
              <a:defRPr sz="7488"/>
            </a:lvl1pPr>
            <a:lvl2pPr marL="1069802" indent="0">
              <a:buNone/>
              <a:defRPr sz="6552"/>
            </a:lvl2pPr>
            <a:lvl3pPr marL="2139605" indent="0">
              <a:buNone/>
              <a:defRPr sz="5616"/>
            </a:lvl3pPr>
            <a:lvl4pPr marL="3209407" indent="0">
              <a:buNone/>
              <a:defRPr sz="4680"/>
            </a:lvl4pPr>
            <a:lvl5pPr marL="4279209" indent="0">
              <a:buNone/>
              <a:defRPr sz="4680"/>
            </a:lvl5pPr>
            <a:lvl6pPr marL="5349011" indent="0">
              <a:buNone/>
              <a:defRPr sz="4680"/>
            </a:lvl6pPr>
            <a:lvl7pPr marL="6418814" indent="0">
              <a:buNone/>
              <a:defRPr sz="4680"/>
            </a:lvl7pPr>
            <a:lvl8pPr marL="7488616" indent="0">
              <a:buNone/>
              <a:defRPr sz="4680"/>
            </a:lvl8pPr>
            <a:lvl9pPr marL="8558418" indent="0">
              <a:buNone/>
              <a:defRPr sz="468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1F6E0-5A73-488E-86C9-2E81CE4137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52C49-D55D-47F9-AE6E-AAFB6444E9E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2026/10/17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DFD81-6CF2-455C-B6B3-F98520C535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1B7F7-F9B0-41E8-8771-78DEBDE002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50FA0-6C16-4D43-B4AE-00D24657C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8C015-198D-46DD-A951-AB7535A12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DDFF2-E2C7-4F11-AB50-26EAE5990A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2026/10/17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D2ECA-B8E6-4551-A833-A44964C6C5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2BCAC-5588-4367-A17E-87057B3F9F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9DC85-3BB1-48FF-B668-60C39791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1746" y="1611452"/>
            <a:ext cx="4613583" cy="25650117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F048AA-391A-4B9A-857F-0DD3255C0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998" y="1611452"/>
            <a:ext cx="13573294" cy="25650117"/>
          </a:xfrm>
        </p:spPr>
        <p:txBody>
          <a:bodyPr vert="eaVert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FA770-8E26-4EB2-B7C3-D60BCD016E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2026/10/17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060EB-716C-428C-AEF1-ADB42777C0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4C1B0-3227-43EB-BEAC-A8B2DFA058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D20BE2-8E84-4DE1-AE26-626B2FD8E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998" y="1611459"/>
            <a:ext cx="18454330" cy="585027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175EE-9AE1-40F2-8878-D17A16CBE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998" y="8057261"/>
            <a:ext cx="18454330" cy="1920430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B7E63-83CE-4064-BA84-FB2E5D0F234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470997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DC1AB-DFEF-4E69-ADD9-F403144A7515}" type="datetimeFigureOut">
              <a:t>2026/10/17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67FA9-3011-495A-8F3C-7707464EF08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7087533" y="28053287"/>
            <a:ext cx="7221260" cy="161145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2F5B9-991A-4BDF-9C74-C9EE7441FCC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5111155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1B15A-DE7C-4788-BA75-459772D4CA7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39605">
        <a:lnSpc>
          <a:spcPct val="90000"/>
        </a:lnSpc>
        <a:spcBef>
          <a:spcPct val="0"/>
        </a:spcBef>
        <a:buNone/>
        <a:defRPr sz="1029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534901" indent="-534901" algn="l" defTabSz="2139605">
        <a:lnSpc>
          <a:spcPct val="90000"/>
        </a:lnSpc>
        <a:spcBef>
          <a:spcPts val="2340"/>
        </a:spcBef>
        <a:buFont typeface="Arial"/>
        <a:buChar char="•"/>
        <a:defRPr sz="6552" kern="1200">
          <a:solidFill>
            <a:schemeClr val="tx1"/>
          </a:solidFill>
          <a:latin typeface="+mn-lt"/>
          <a:ea typeface="+mn-lt"/>
          <a:cs typeface="+mn-lt"/>
        </a:defRPr>
      </a:lvl1pPr>
      <a:lvl2pPr marL="1604703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5616" kern="1200">
          <a:solidFill>
            <a:schemeClr val="tx1"/>
          </a:solidFill>
          <a:latin typeface="+mn-lt"/>
          <a:ea typeface="+mn-lt"/>
          <a:cs typeface="+mn-lt"/>
        </a:defRPr>
      </a:lvl2pPr>
      <a:lvl3pPr marL="2674506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680" kern="1200">
          <a:solidFill>
            <a:schemeClr val="tx1"/>
          </a:solidFill>
          <a:latin typeface="+mn-lt"/>
          <a:ea typeface="+mn-lt"/>
          <a:cs typeface="+mn-lt"/>
        </a:defRPr>
      </a:lvl3pPr>
      <a:lvl4pPr marL="3744308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4pPr>
      <a:lvl5pPr marL="4814110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5pPr>
      <a:lvl6pPr marL="5883913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6pPr>
      <a:lvl7pPr marL="6953715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7pPr>
      <a:lvl8pPr marL="8023517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8pPr>
      <a:lvl9pPr marL="9093319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1pPr>
      <a:lvl2pPr marL="1069802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2pPr>
      <a:lvl3pPr marL="2139605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3pPr>
      <a:lvl4pPr marL="3209407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4pPr>
      <a:lvl5pPr marL="4279209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5pPr>
      <a:lvl6pPr marL="5349011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6pPr>
      <a:lvl7pPr marL="6418814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7pPr>
      <a:lvl8pPr marL="7488616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8pPr>
      <a:lvl9pPr marL="8558418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FD14D6-8A0B-4449-9719-B5D69EC0D76B}"/>
              </a:ext>
            </a:extLst>
          </p:cNvPr>
          <p:cNvSpPr>
            <a:spLocks noGrp="1"/>
          </p:cNvSpPr>
          <p:nvPr/>
        </p:nvSpPr>
        <p:spPr>
          <a:xfrm>
            <a:off x="0" y="-5398"/>
            <a:ext cx="21396325" cy="1792288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196F8310-B73E-440E-B0FE-EE251FE27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1" y="281145"/>
            <a:ext cx="3308880" cy="1224929"/>
          </a:xfrm>
          <a:prstGeom prst="rect">
            <a:avLst/>
          </a:prstGeom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6AA891-E97B-4896-8426-F3DB06F0987C}"/>
              </a:ext>
            </a:extLst>
          </p:cNvPr>
          <p:cNvSpPr>
            <a:spLocks noGrp="1"/>
          </p:cNvSpPr>
          <p:nvPr/>
        </p:nvSpPr>
        <p:spPr>
          <a:xfrm>
            <a:off x="0" y="29313168"/>
            <a:ext cx="21396325" cy="965886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7D3D8C0-E287-4802-A19E-0FA3C1E06D38}"/>
              </a:ext>
            </a:extLst>
          </p:cNvPr>
          <p:cNvSpPr>
            <a:spLocks noGrp="1"/>
          </p:cNvSpPr>
          <p:nvPr/>
        </p:nvSpPr>
        <p:spPr>
          <a:xfrm>
            <a:off x="7429501" y="528117"/>
            <a:ext cx="13315950" cy="72525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>
            <a:normAutofit/>
          </a:bodyPr>
          <a:lstStyle>
            <a:defPPr algn="r">
              <a:defRPr sz="3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r">
              <a:defRPr sz="3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3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3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3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3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3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3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3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3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3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75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of Electrical and Electronic Engineering</a:t>
            </a:r>
            <a:endParaRPr sz="2800" b="0" i="0" u="none" strike="noStrik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83278-A505-4022-A9A1-F7F4ADC3830A}"/>
              </a:ext>
            </a:extLst>
          </p:cNvPr>
          <p:cNvSpPr>
            <a:spLocks noGrp="1"/>
          </p:cNvSpPr>
          <p:nvPr/>
        </p:nvSpPr>
        <p:spPr>
          <a:xfrm>
            <a:off x="6083300" y="29324947"/>
            <a:ext cx="15253606" cy="9372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r">
              <a:defRPr sz="27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r">
              <a:defRPr sz="27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27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27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27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27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27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27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27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27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buNone/>
              <a:defRPr sz="27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sz="27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Student Name: </a:t>
            </a:r>
            <a:r>
              <a:rPr sz="27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Zifan Xu (20719616)</a:t>
            </a:r>
          </a:p>
          <a:p>
            <a:pPr algn="r">
              <a:buNone/>
              <a:defRPr sz="27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Supervisor: Chiew-Foong Kwong</a:t>
            </a:r>
            <a:endParaRPr sz="2800" i="1" dirty="0">
              <a:solidFill>
                <a:srgbClr val="FF0000"/>
              </a:solidFill>
            </a:endParaRPr>
          </a:p>
        </p:txBody>
      </p:sp>
      <p:sp>
        <p:nvSpPr>
          <p:cNvPr id="1028" name="矩形 1027">
            <a:extLst>
              <a:ext uri="{FF2B5EF4-FFF2-40B4-BE49-F238E27FC236}">
                <a16:creationId xmlns:a16="http://schemas.microsoft.com/office/drawing/2014/main" id="{3A9395FE-26C5-4396-A2EF-64FD1E9A2484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19488150" cy="1438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381" lnSpcReduction="10000"/>
          </a:bodyPr>
          <a:lstStyle>
            <a:defPPr algn="l">
              <a:defRPr sz="52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defPPr>
            <a:lvl1pPr algn="l">
              <a:defRPr sz="52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52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52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52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52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52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52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52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52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52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5250" b="1" dirty="0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Whole-Body Control for a Mobile Manipulator</a:t>
            </a:r>
          </a:p>
          <a:p>
            <a:pPr algn="l">
              <a:defRPr sz="52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5250" b="1" dirty="0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with QP + Reinforcement Learning</a:t>
            </a:r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88AC869B-B145-44BE-A985-42FF6CF9D5E2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948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625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625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625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625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625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625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625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625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625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625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625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0B7F88"/>
                </a:solidFill>
                <a:latin typeface="Calibri"/>
                <a:ea typeface="Calibri"/>
                <a:cs typeface="Calibri"/>
              </a:rPr>
              <a:t>RoArm-M3 demo: MTC planning and camera-guided grasping</a:t>
            </a:r>
          </a:p>
        </p:txBody>
      </p:sp>
      <p:sp>
        <p:nvSpPr>
          <p:cNvPr id="1030" name="矩形 1029">
            <a:extLst>
              <a:ext uri="{FF2B5EF4-FFF2-40B4-BE49-F238E27FC236}">
                <a16:creationId xmlns:a16="http://schemas.microsoft.com/office/drawing/2014/main" id="{398EA7AA-1768-4E9D-85EA-CEF9ADF61F8D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19488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defPPr>
            <a:lvl1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Project overview</a:t>
            </a:r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2BF72BC6-B532-4721-ACEA-53D5A6128CA0}"/>
              </a:ext>
            </a:extLst>
          </p:cNvPr>
          <p:cNvSpPr>
            <a:spLocks noGrp="1"/>
          </p:cNvSpPr>
          <p:nvPr/>
        </p:nvSpPr>
        <p:spPr>
          <a:xfrm>
            <a:off x="952500" y="5029200"/>
            <a:ext cx="19488150" cy="47625"/>
          </a:xfrm>
          <a:prstGeom prst="rect">
            <a:avLst/>
          </a:prstGeom>
          <a:solidFill>
            <a:srgbClr val="0B7F8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2" name="矩形 1031">
            <a:extLst>
              <a:ext uri="{FF2B5EF4-FFF2-40B4-BE49-F238E27FC236}">
                <a16:creationId xmlns:a16="http://schemas.microsoft.com/office/drawing/2014/main" id="{849ED57F-5783-4DCC-8755-835BF04FCBD5}"/>
              </a:ext>
            </a:extLst>
          </p:cNvPr>
          <p:cNvSpPr>
            <a:spLocks noGrp="1"/>
          </p:cNvSpPr>
          <p:nvPr/>
        </p:nvSpPr>
        <p:spPr>
          <a:xfrm>
            <a:off x="952500" y="5257800"/>
            <a:ext cx="1948815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5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5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5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5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5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5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5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5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5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5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42B3D"/>
                </a:solidFill>
                <a:latin typeface="Calibri"/>
                <a:ea typeface="Calibri"/>
                <a:cs typeface="Calibri"/>
              </a:rPr>
              <a:t>This poster presents the RoArm-M3 motion-planning and vision-guided grasping components of the wider whole-body control project. A fixed camera provides a target pose; eye-to-hand calibration maps it into the robot base frame. MoveIt Task Constructor (MTC) plans the manipulation stages, while measured joint feedback updates the robot state.</a:t>
            </a:r>
          </a:p>
        </p:txBody>
      </p:sp>
      <p:sp>
        <p:nvSpPr>
          <p:cNvPr id="1033" name="矩形 1032">
            <a:extLst>
              <a:ext uri="{FF2B5EF4-FFF2-40B4-BE49-F238E27FC236}">
                <a16:creationId xmlns:a16="http://schemas.microsoft.com/office/drawing/2014/main" id="{1FFB0A0E-2C13-44B7-87C1-8474793FDB4D}"/>
              </a:ext>
            </a:extLst>
          </p:cNvPr>
          <p:cNvSpPr>
            <a:spLocks noGrp="1"/>
          </p:cNvSpPr>
          <p:nvPr/>
        </p:nvSpPr>
        <p:spPr>
          <a:xfrm>
            <a:off x="952500" y="7315200"/>
            <a:ext cx="19488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defPPr>
            <a:lvl1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Demo pipeline</a:t>
            </a:r>
          </a:p>
        </p:txBody>
      </p:sp>
      <p:sp>
        <p:nvSpPr>
          <p:cNvPr id="1034" name="矩形 1033">
            <a:extLst>
              <a:ext uri="{FF2B5EF4-FFF2-40B4-BE49-F238E27FC236}">
                <a16:creationId xmlns:a16="http://schemas.microsoft.com/office/drawing/2014/main" id="{0136020F-FBDF-4D08-AB9E-E4D675B50716}"/>
              </a:ext>
            </a:extLst>
          </p:cNvPr>
          <p:cNvSpPr>
            <a:spLocks noGrp="1"/>
          </p:cNvSpPr>
          <p:nvPr/>
        </p:nvSpPr>
        <p:spPr>
          <a:xfrm>
            <a:off x="952500" y="7905750"/>
            <a:ext cx="19488150" cy="47625"/>
          </a:xfrm>
          <a:prstGeom prst="rect">
            <a:avLst/>
          </a:prstGeom>
          <a:solidFill>
            <a:srgbClr val="0B7F8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5" name="矩形 1034">
            <a:extLst>
              <a:ext uri="{FF2B5EF4-FFF2-40B4-BE49-F238E27FC236}">
                <a16:creationId xmlns:a16="http://schemas.microsoft.com/office/drawing/2014/main" id="{F7C9A636-7E88-421F-83CD-40045DD0CFA3}"/>
              </a:ext>
            </a:extLst>
          </p:cNvPr>
          <p:cNvSpPr>
            <a:spLocks noGrp="1"/>
          </p:cNvSpPr>
          <p:nvPr/>
        </p:nvSpPr>
        <p:spPr>
          <a:xfrm>
            <a:off x="952500" y="8277225"/>
            <a:ext cx="4457700" cy="1714500"/>
          </a:xfrm>
          <a:prstGeom prst="rect">
            <a:avLst/>
          </a:prstGeom>
          <a:solidFill>
            <a:srgbClr val="EAF4F5"/>
          </a:solidFill>
          <a:ln w="19050">
            <a:solidFill>
              <a:srgbClr val="CBD6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6" name="矩形 1035">
            <a:extLst>
              <a:ext uri="{FF2B5EF4-FFF2-40B4-BE49-F238E27FC236}">
                <a16:creationId xmlns:a16="http://schemas.microsoft.com/office/drawing/2014/main" id="{29AA00B1-4F47-497E-A015-14EBFCD32718}"/>
              </a:ext>
            </a:extLst>
          </p:cNvPr>
          <p:cNvSpPr>
            <a:spLocks noGrp="1"/>
          </p:cNvSpPr>
          <p:nvPr/>
        </p:nvSpPr>
        <p:spPr>
          <a:xfrm>
            <a:off x="1143000" y="84391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B7F88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037" name="矩形 1036">
            <a:extLst>
              <a:ext uri="{FF2B5EF4-FFF2-40B4-BE49-F238E27FC236}">
                <a16:creationId xmlns:a16="http://schemas.microsoft.com/office/drawing/2014/main" id="{BACD17BB-116C-45CB-A1A4-6BE4DB31D3FF}"/>
              </a:ext>
            </a:extLst>
          </p:cNvPr>
          <p:cNvSpPr>
            <a:spLocks noGrp="1"/>
          </p:cNvSpPr>
          <p:nvPr/>
        </p:nvSpPr>
        <p:spPr>
          <a:xfrm>
            <a:off x="1143000" y="8829675"/>
            <a:ext cx="4076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Camera</a:t>
            </a:r>
          </a:p>
        </p:txBody>
      </p:sp>
      <p:sp>
        <p:nvSpPr>
          <p:cNvPr id="1038" name="矩形 1037">
            <a:extLst>
              <a:ext uri="{FF2B5EF4-FFF2-40B4-BE49-F238E27FC236}">
                <a16:creationId xmlns:a16="http://schemas.microsoft.com/office/drawing/2014/main" id="{1FDC158B-F46B-4502-A22B-056BFDA984C0}"/>
              </a:ext>
            </a:extLst>
          </p:cNvPr>
          <p:cNvSpPr>
            <a:spLocks noGrp="1"/>
          </p:cNvSpPr>
          <p:nvPr/>
        </p:nvSpPr>
        <p:spPr>
          <a:xfrm>
            <a:off x="1143000" y="9439275"/>
            <a:ext cx="407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16171"/>
                </a:solidFill>
                <a:latin typeface="Calibri"/>
                <a:ea typeface="Calibri"/>
                <a:cs typeface="Calibri"/>
              </a:rPr>
              <a:t>Target observation</a:t>
            </a:r>
          </a:p>
        </p:txBody>
      </p:sp>
      <p:sp>
        <p:nvSpPr>
          <p:cNvPr id="1039" name="矩形 1038">
            <a:extLst>
              <a:ext uri="{FF2B5EF4-FFF2-40B4-BE49-F238E27FC236}">
                <a16:creationId xmlns:a16="http://schemas.microsoft.com/office/drawing/2014/main" id="{A8D01E9C-5CF1-4777-925E-39B440AF8AC0}"/>
              </a:ext>
            </a:extLst>
          </p:cNvPr>
          <p:cNvSpPr>
            <a:spLocks noGrp="1"/>
          </p:cNvSpPr>
          <p:nvPr/>
        </p:nvSpPr>
        <p:spPr>
          <a:xfrm>
            <a:off x="5429250" y="8820150"/>
            <a:ext cx="523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B7F88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040" name="矩形 1039">
            <a:extLst>
              <a:ext uri="{FF2B5EF4-FFF2-40B4-BE49-F238E27FC236}">
                <a16:creationId xmlns:a16="http://schemas.microsoft.com/office/drawing/2014/main" id="{B4321AC4-D4DB-45E2-9BC8-5BFC835416B2}"/>
              </a:ext>
            </a:extLst>
          </p:cNvPr>
          <p:cNvSpPr>
            <a:spLocks noGrp="1"/>
          </p:cNvSpPr>
          <p:nvPr/>
        </p:nvSpPr>
        <p:spPr>
          <a:xfrm>
            <a:off x="5962650" y="8277225"/>
            <a:ext cx="4457700" cy="1714500"/>
          </a:xfrm>
          <a:prstGeom prst="rect">
            <a:avLst/>
          </a:prstGeom>
          <a:solidFill>
            <a:srgbClr val="EAF4F5"/>
          </a:solidFill>
          <a:ln w="19050">
            <a:solidFill>
              <a:srgbClr val="CBD6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1" name="矩形 1040">
            <a:extLst>
              <a:ext uri="{FF2B5EF4-FFF2-40B4-BE49-F238E27FC236}">
                <a16:creationId xmlns:a16="http://schemas.microsoft.com/office/drawing/2014/main" id="{466D05AF-2C5C-4D0B-85E6-4E81400531F1}"/>
              </a:ext>
            </a:extLst>
          </p:cNvPr>
          <p:cNvSpPr>
            <a:spLocks noGrp="1"/>
          </p:cNvSpPr>
          <p:nvPr/>
        </p:nvSpPr>
        <p:spPr>
          <a:xfrm>
            <a:off x="6153150" y="84391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B7F8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42" name="矩形 1041">
            <a:extLst>
              <a:ext uri="{FF2B5EF4-FFF2-40B4-BE49-F238E27FC236}">
                <a16:creationId xmlns:a16="http://schemas.microsoft.com/office/drawing/2014/main" id="{958126FD-C0C9-45BB-9035-9502B65D93F6}"/>
              </a:ext>
            </a:extLst>
          </p:cNvPr>
          <p:cNvSpPr>
            <a:spLocks noGrp="1"/>
          </p:cNvSpPr>
          <p:nvPr/>
        </p:nvSpPr>
        <p:spPr>
          <a:xfrm>
            <a:off x="6153150" y="8829675"/>
            <a:ext cx="4076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Calibration</a:t>
            </a:r>
          </a:p>
        </p:txBody>
      </p:sp>
      <p:sp>
        <p:nvSpPr>
          <p:cNvPr id="1043" name="矩形 1042">
            <a:extLst>
              <a:ext uri="{FF2B5EF4-FFF2-40B4-BE49-F238E27FC236}">
                <a16:creationId xmlns:a16="http://schemas.microsoft.com/office/drawing/2014/main" id="{D3AF250B-3EBD-484E-A49F-D12E3D5A0151}"/>
              </a:ext>
            </a:extLst>
          </p:cNvPr>
          <p:cNvSpPr>
            <a:spLocks noGrp="1"/>
          </p:cNvSpPr>
          <p:nvPr/>
        </p:nvSpPr>
        <p:spPr>
          <a:xfrm>
            <a:off x="6153150" y="9439275"/>
            <a:ext cx="407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16171"/>
                </a:solidFill>
                <a:latin typeface="Calibri"/>
                <a:ea typeface="Calibri"/>
                <a:cs typeface="Calibri"/>
              </a:rPr>
              <a:t>Camera → base</a:t>
            </a:r>
          </a:p>
        </p:txBody>
      </p:sp>
      <p:sp>
        <p:nvSpPr>
          <p:cNvPr id="1044" name="矩形 1043">
            <a:extLst>
              <a:ext uri="{FF2B5EF4-FFF2-40B4-BE49-F238E27FC236}">
                <a16:creationId xmlns:a16="http://schemas.microsoft.com/office/drawing/2014/main" id="{70330233-EDA5-4675-B155-C4155862AD3C}"/>
              </a:ext>
            </a:extLst>
          </p:cNvPr>
          <p:cNvSpPr>
            <a:spLocks noGrp="1"/>
          </p:cNvSpPr>
          <p:nvPr/>
        </p:nvSpPr>
        <p:spPr>
          <a:xfrm>
            <a:off x="10439400" y="8820150"/>
            <a:ext cx="523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B7F88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045" name="矩形 1044">
            <a:extLst>
              <a:ext uri="{FF2B5EF4-FFF2-40B4-BE49-F238E27FC236}">
                <a16:creationId xmlns:a16="http://schemas.microsoft.com/office/drawing/2014/main" id="{E905AAC9-F855-4191-A89A-5C87966E4C0B}"/>
              </a:ext>
            </a:extLst>
          </p:cNvPr>
          <p:cNvSpPr>
            <a:spLocks noGrp="1"/>
          </p:cNvSpPr>
          <p:nvPr/>
        </p:nvSpPr>
        <p:spPr>
          <a:xfrm>
            <a:off x="10972800" y="8277225"/>
            <a:ext cx="4457700" cy="1714500"/>
          </a:xfrm>
          <a:prstGeom prst="rect">
            <a:avLst/>
          </a:prstGeom>
          <a:solidFill>
            <a:srgbClr val="EAF4F5"/>
          </a:solidFill>
          <a:ln w="19050">
            <a:solidFill>
              <a:srgbClr val="CBD6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6" name="矩形 1045">
            <a:extLst>
              <a:ext uri="{FF2B5EF4-FFF2-40B4-BE49-F238E27FC236}">
                <a16:creationId xmlns:a16="http://schemas.microsoft.com/office/drawing/2014/main" id="{D3C90DF4-C3C7-4ABE-AE1D-0D371D2AF2B9}"/>
              </a:ext>
            </a:extLst>
          </p:cNvPr>
          <p:cNvSpPr>
            <a:spLocks noGrp="1"/>
          </p:cNvSpPr>
          <p:nvPr/>
        </p:nvSpPr>
        <p:spPr>
          <a:xfrm>
            <a:off x="11163300" y="84391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B7F88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47" name="矩形 1046">
            <a:extLst>
              <a:ext uri="{FF2B5EF4-FFF2-40B4-BE49-F238E27FC236}">
                <a16:creationId xmlns:a16="http://schemas.microsoft.com/office/drawing/2014/main" id="{066AC8D5-C0DB-4E6E-9E67-CBFFDB9CA65D}"/>
              </a:ext>
            </a:extLst>
          </p:cNvPr>
          <p:cNvSpPr>
            <a:spLocks noGrp="1"/>
          </p:cNvSpPr>
          <p:nvPr/>
        </p:nvSpPr>
        <p:spPr>
          <a:xfrm>
            <a:off x="11163300" y="8829675"/>
            <a:ext cx="4076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MTC</a:t>
            </a:r>
          </a:p>
        </p:txBody>
      </p:sp>
      <p:sp>
        <p:nvSpPr>
          <p:cNvPr id="1048" name="矩形 1047">
            <a:extLst>
              <a:ext uri="{FF2B5EF4-FFF2-40B4-BE49-F238E27FC236}">
                <a16:creationId xmlns:a16="http://schemas.microsoft.com/office/drawing/2014/main" id="{3AB38872-2DC5-4446-B446-D155CB5408D6}"/>
              </a:ext>
            </a:extLst>
          </p:cNvPr>
          <p:cNvSpPr>
            <a:spLocks noGrp="1"/>
          </p:cNvSpPr>
          <p:nvPr/>
        </p:nvSpPr>
        <p:spPr>
          <a:xfrm>
            <a:off x="11163300" y="9439275"/>
            <a:ext cx="407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16171"/>
                </a:solidFill>
                <a:latin typeface="Calibri"/>
                <a:ea typeface="Calibri"/>
                <a:cs typeface="Calibri"/>
              </a:rPr>
              <a:t>Approach + grasp</a:t>
            </a:r>
          </a:p>
        </p:txBody>
      </p:sp>
      <p:sp>
        <p:nvSpPr>
          <p:cNvPr id="1049" name="矩形 1048">
            <a:extLst>
              <a:ext uri="{FF2B5EF4-FFF2-40B4-BE49-F238E27FC236}">
                <a16:creationId xmlns:a16="http://schemas.microsoft.com/office/drawing/2014/main" id="{9749BF85-7047-426E-A7BB-1B2F8BBE3C64}"/>
              </a:ext>
            </a:extLst>
          </p:cNvPr>
          <p:cNvSpPr>
            <a:spLocks noGrp="1"/>
          </p:cNvSpPr>
          <p:nvPr/>
        </p:nvSpPr>
        <p:spPr>
          <a:xfrm>
            <a:off x="15449550" y="8820150"/>
            <a:ext cx="523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36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B7F88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050" name="矩形 1049">
            <a:extLst>
              <a:ext uri="{FF2B5EF4-FFF2-40B4-BE49-F238E27FC236}">
                <a16:creationId xmlns:a16="http://schemas.microsoft.com/office/drawing/2014/main" id="{A1F648B1-4D4D-4B67-8ED3-0E15ECCF8A03}"/>
              </a:ext>
            </a:extLst>
          </p:cNvPr>
          <p:cNvSpPr>
            <a:spLocks noGrp="1"/>
          </p:cNvSpPr>
          <p:nvPr/>
        </p:nvSpPr>
        <p:spPr>
          <a:xfrm>
            <a:off x="15982950" y="8277225"/>
            <a:ext cx="4457700" cy="1714500"/>
          </a:xfrm>
          <a:prstGeom prst="rect">
            <a:avLst/>
          </a:prstGeom>
          <a:solidFill>
            <a:srgbClr val="EAF4F5"/>
          </a:solidFill>
          <a:ln w="19050">
            <a:solidFill>
              <a:srgbClr val="CBD6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1" name="矩形 1050">
            <a:extLst>
              <a:ext uri="{FF2B5EF4-FFF2-40B4-BE49-F238E27FC236}">
                <a16:creationId xmlns:a16="http://schemas.microsoft.com/office/drawing/2014/main" id="{C4B34686-1466-4684-9D47-98423924707A}"/>
              </a:ext>
            </a:extLst>
          </p:cNvPr>
          <p:cNvSpPr>
            <a:spLocks noGrp="1"/>
          </p:cNvSpPr>
          <p:nvPr/>
        </p:nvSpPr>
        <p:spPr>
          <a:xfrm>
            <a:off x="16173450" y="84391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95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B7F88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8E8C2C70-A9D8-4179-A3F8-F754D992C077}"/>
              </a:ext>
            </a:extLst>
          </p:cNvPr>
          <p:cNvSpPr>
            <a:spLocks noGrp="1"/>
          </p:cNvSpPr>
          <p:nvPr/>
        </p:nvSpPr>
        <p:spPr>
          <a:xfrm>
            <a:off x="16173450" y="8829675"/>
            <a:ext cx="4076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075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RoArm-M3</a:t>
            </a:r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4D92034B-9B21-4657-B155-665E0DCCF335}"/>
              </a:ext>
            </a:extLst>
          </p:cNvPr>
          <p:cNvSpPr>
            <a:spLocks noGrp="1"/>
          </p:cNvSpPr>
          <p:nvPr/>
        </p:nvSpPr>
        <p:spPr>
          <a:xfrm>
            <a:off x="16173450" y="9439275"/>
            <a:ext cx="407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16171"/>
                </a:solidFill>
                <a:latin typeface="Calibri"/>
                <a:ea typeface="Calibri"/>
                <a:cs typeface="Calibri"/>
              </a:rPr>
              <a:t>Execute + feedback</a:t>
            </a:r>
          </a:p>
        </p:txBody>
      </p:sp>
      <p:sp>
        <p:nvSpPr>
          <p:cNvPr id="1054" name="矩形 1053">
            <a:extLst>
              <a:ext uri="{FF2B5EF4-FFF2-40B4-BE49-F238E27FC236}">
                <a16:creationId xmlns:a16="http://schemas.microsoft.com/office/drawing/2014/main" id="{DA423FA7-D4D4-46D0-B7E0-636ACA61FB4A}"/>
              </a:ext>
            </a:extLst>
          </p:cNvPr>
          <p:cNvSpPr>
            <a:spLocks noGrp="1"/>
          </p:cNvSpPr>
          <p:nvPr/>
        </p:nvSpPr>
        <p:spPr>
          <a:xfrm>
            <a:off x="952500" y="10315575"/>
            <a:ext cx="1948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1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516171"/>
                </a:solidFill>
                <a:latin typeface="Calibri"/>
                <a:ea typeface="Calibri"/>
                <a:cs typeface="Calibri"/>
              </a:rPr>
              <a:t>Control path: MoveIt 2 / MTC → ros2_control → serial driver → RoArm-M3. Measured joint angles → /joint_states → TF.</a:t>
            </a:r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49EACD09-7085-4281-98EE-DF5A4577D7B7}"/>
              </a:ext>
            </a:extLst>
          </p:cNvPr>
          <p:cNvSpPr>
            <a:spLocks noGrp="1"/>
          </p:cNvSpPr>
          <p:nvPr/>
        </p:nvSpPr>
        <p:spPr>
          <a:xfrm>
            <a:off x="952500" y="11249025"/>
            <a:ext cx="922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defPPr>
            <a:lvl1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Existing hardware setup</a:t>
            </a:r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E7B44F06-1FF8-4E52-B39E-2D0B291E5740}"/>
              </a:ext>
            </a:extLst>
          </p:cNvPr>
          <p:cNvSpPr>
            <a:spLocks noGrp="1"/>
          </p:cNvSpPr>
          <p:nvPr/>
        </p:nvSpPr>
        <p:spPr>
          <a:xfrm>
            <a:off x="952500" y="11839575"/>
            <a:ext cx="9220200" cy="47625"/>
          </a:xfrm>
          <a:prstGeom prst="rect">
            <a:avLst/>
          </a:prstGeom>
          <a:solidFill>
            <a:srgbClr val="0B7F8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7" name="矩形 1056">
            <a:extLst>
              <a:ext uri="{FF2B5EF4-FFF2-40B4-BE49-F238E27FC236}">
                <a16:creationId xmlns:a16="http://schemas.microsoft.com/office/drawing/2014/main" id="{4F016893-AA32-4F41-A372-E51501D09228}"/>
              </a:ext>
            </a:extLst>
          </p:cNvPr>
          <p:cNvSpPr>
            <a:spLocks noGrp="1"/>
          </p:cNvSpPr>
          <p:nvPr/>
        </p:nvSpPr>
        <p:spPr>
          <a:xfrm>
            <a:off x="952500" y="12030075"/>
            <a:ext cx="9220200" cy="4895850"/>
          </a:xfrm>
          <a:prstGeom prst="rect">
            <a:avLst/>
          </a:prstGeom>
          <a:solidFill>
            <a:srgbClr val="F2F5F7"/>
          </a:solidFill>
          <a:ln w="19050">
            <a:solidFill>
              <a:srgbClr val="CBD6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58" name="图片 1057">
            <a:extLst>
              <a:ext uri="{FF2B5EF4-FFF2-40B4-BE49-F238E27FC236}">
                <a16:creationId xmlns:a16="http://schemas.microsoft.com/office/drawing/2014/main" id="{05A88A1F-10A0-411F-968D-4EAFFF0C3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463800" y="12096750"/>
            <a:ext cx="6197600" cy="4648200"/>
          </a:xfrm>
          <a:prstGeom prst="rect">
            <a:avLst/>
          </a:prstGeom>
        </p:spPr>
      </p:pic>
      <p:sp>
        <p:nvSpPr>
          <p:cNvPr id="1059" name="矩形 1058">
            <a:extLst>
              <a:ext uri="{FF2B5EF4-FFF2-40B4-BE49-F238E27FC236}">
                <a16:creationId xmlns:a16="http://schemas.microsoft.com/office/drawing/2014/main" id="{A91196B2-EEA8-468A-B71A-4EE1E9F0A598}"/>
              </a:ext>
            </a:extLst>
          </p:cNvPr>
          <p:cNvSpPr>
            <a:spLocks noGrp="1"/>
          </p:cNvSpPr>
          <p:nvPr/>
        </p:nvSpPr>
        <p:spPr>
          <a:xfrm>
            <a:off x="952500" y="17030700"/>
            <a:ext cx="9220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02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16171"/>
                </a:solidFill>
                <a:latin typeface="Calibri"/>
                <a:ea typeface="Calibri"/>
                <a:cs typeface="Calibri"/>
              </a:rPr>
              <a:t>RoArm-M3 with AprilTag at the gripper for eye-to-hand calibration.</a:t>
            </a:r>
          </a:p>
        </p:txBody>
      </p:sp>
      <p:sp>
        <p:nvSpPr>
          <p:cNvPr id="1060" name="矩形 1059">
            <a:extLst>
              <a:ext uri="{FF2B5EF4-FFF2-40B4-BE49-F238E27FC236}">
                <a16:creationId xmlns:a16="http://schemas.microsoft.com/office/drawing/2014/main" id="{B9393731-1F63-434F-B505-6638B6D9C4FD}"/>
              </a:ext>
            </a:extLst>
          </p:cNvPr>
          <p:cNvSpPr>
            <a:spLocks noGrp="1"/>
          </p:cNvSpPr>
          <p:nvPr/>
        </p:nvSpPr>
        <p:spPr>
          <a:xfrm>
            <a:off x="952500" y="17830800"/>
            <a:ext cx="922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defPPr>
            <a:lvl1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MoveIt Task Constructor plan</a:t>
            </a:r>
          </a:p>
        </p:txBody>
      </p:sp>
      <p:sp>
        <p:nvSpPr>
          <p:cNvPr id="1061" name="矩形 1060">
            <a:extLst>
              <a:ext uri="{FF2B5EF4-FFF2-40B4-BE49-F238E27FC236}">
                <a16:creationId xmlns:a16="http://schemas.microsoft.com/office/drawing/2014/main" id="{3DFE62AE-8D52-413A-B524-719CFAB86C49}"/>
              </a:ext>
            </a:extLst>
          </p:cNvPr>
          <p:cNvSpPr>
            <a:spLocks noGrp="1"/>
          </p:cNvSpPr>
          <p:nvPr/>
        </p:nvSpPr>
        <p:spPr>
          <a:xfrm>
            <a:off x="952500" y="18421350"/>
            <a:ext cx="9220200" cy="47625"/>
          </a:xfrm>
          <a:prstGeom prst="rect">
            <a:avLst/>
          </a:prstGeom>
          <a:solidFill>
            <a:srgbClr val="0B7F8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2" name="矩形 1061">
            <a:extLst>
              <a:ext uri="{FF2B5EF4-FFF2-40B4-BE49-F238E27FC236}">
                <a16:creationId xmlns:a16="http://schemas.microsoft.com/office/drawing/2014/main" id="{24C5FEC7-C42C-4524-A2E2-B2F0B7003383}"/>
              </a:ext>
            </a:extLst>
          </p:cNvPr>
          <p:cNvSpPr>
            <a:spLocks noGrp="1"/>
          </p:cNvSpPr>
          <p:nvPr/>
        </p:nvSpPr>
        <p:spPr>
          <a:xfrm>
            <a:off x="952500" y="18621375"/>
            <a:ext cx="9220200" cy="59817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6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63" name="图片 1062">
            <a:extLst>
              <a:ext uri="{FF2B5EF4-FFF2-40B4-BE49-F238E27FC236}">
                <a16:creationId xmlns:a16="http://schemas.microsoft.com/office/drawing/2014/main" id="{BADC9E93-4425-40A7-8B9A-C7AA04459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85923" y="18649950"/>
            <a:ext cx="9153354" cy="5924550"/>
          </a:xfrm>
          <a:prstGeom prst="rect">
            <a:avLst/>
          </a:prstGeom>
        </p:spPr>
      </p:pic>
      <p:sp>
        <p:nvSpPr>
          <p:cNvPr id="1064" name="矩形 1063">
            <a:extLst>
              <a:ext uri="{FF2B5EF4-FFF2-40B4-BE49-F238E27FC236}">
                <a16:creationId xmlns:a16="http://schemas.microsoft.com/office/drawing/2014/main" id="{E6EEF136-6B8C-48D6-8E35-7E17EC832F5C}"/>
              </a:ext>
            </a:extLst>
          </p:cNvPr>
          <p:cNvSpPr>
            <a:spLocks noGrp="1"/>
          </p:cNvSpPr>
          <p:nvPr/>
        </p:nvSpPr>
        <p:spPr>
          <a:xfrm>
            <a:off x="952500" y="24679275"/>
            <a:ext cx="92202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516171"/>
                </a:solidFill>
                <a:latin typeface="Calibri"/>
                <a:ea typeface="Calibri"/>
                <a:cs typeface="Calibri"/>
              </a:rPr>
              <a:t>Provided MTC Task Tree: one displayed Cartesian Path solution. This image does not show grasp execution.</a:t>
            </a:r>
          </a:p>
        </p:txBody>
      </p:sp>
      <p:sp>
        <p:nvSpPr>
          <p:cNvPr id="1065" name="矩形 1064">
            <a:extLst>
              <a:ext uri="{FF2B5EF4-FFF2-40B4-BE49-F238E27FC236}">
                <a16:creationId xmlns:a16="http://schemas.microsoft.com/office/drawing/2014/main" id="{B479E6CD-F81F-4133-A4B1-7893A9C0B390}"/>
              </a:ext>
            </a:extLst>
          </p:cNvPr>
          <p:cNvSpPr>
            <a:spLocks noGrp="1"/>
          </p:cNvSpPr>
          <p:nvPr/>
        </p:nvSpPr>
        <p:spPr>
          <a:xfrm>
            <a:off x="952500" y="25574625"/>
            <a:ext cx="922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defPPr>
            <a:lvl1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3450" b="1" dirty="0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Grasp trials</a:t>
            </a:r>
          </a:p>
        </p:txBody>
      </p:sp>
      <p:sp>
        <p:nvSpPr>
          <p:cNvPr id="1066" name="矩形 1065">
            <a:extLst>
              <a:ext uri="{FF2B5EF4-FFF2-40B4-BE49-F238E27FC236}">
                <a16:creationId xmlns:a16="http://schemas.microsoft.com/office/drawing/2014/main" id="{1016B906-D5CA-4728-B4C8-2A2FC2FFE0B5}"/>
              </a:ext>
            </a:extLst>
          </p:cNvPr>
          <p:cNvSpPr>
            <a:spLocks noGrp="1"/>
          </p:cNvSpPr>
          <p:nvPr/>
        </p:nvSpPr>
        <p:spPr>
          <a:xfrm>
            <a:off x="952500" y="26165175"/>
            <a:ext cx="9220200" cy="47625"/>
          </a:xfrm>
          <a:prstGeom prst="rect">
            <a:avLst/>
          </a:prstGeom>
          <a:solidFill>
            <a:srgbClr val="0B7F8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7" name="矩形 1066">
            <a:extLst>
              <a:ext uri="{FF2B5EF4-FFF2-40B4-BE49-F238E27FC236}">
                <a16:creationId xmlns:a16="http://schemas.microsoft.com/office/drawing/2014/main" id="{C8AAA17B-30A5-409C-9517-FE8720456168}"/>
              </a:ext>
            </a:extLst>
          </p:cNvPr>
          <p:cNvSpPr>
            <a:spLocks noGrp="1"/>
          </p:cNvSpPr>
          <p:nvPr/>
        </p:nvSpPr>
        <p:spPr>
          <a:xfrm>
            <a:off x="952500" y="26384250"/>
            <a:ext cx="9220200" cy="2428875"/>
          </a:xfrm>
          <a:prstGeom prst="rect">
            <a:avLst/>
          </a:prstGeom>
          <a:solidFill>
            <a:srgbClr val="F5F9FA"/>
          </a:solidFill>
          <a:ln w="19050">
            <a:solidFill>
              <a:srgbClr val="0B7F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8" name="矩形 1067">
            <a:extLst>
              <a:ext uri="{FF2B5EF4-FFF2-40B4-BE49-F238E27FC236}">
                <a16:creationId xmlns:a16="http://schemas.microsoft.com/office/drawing/2014/main" id="{6D39AD93-6B9B-4A52-BBD1-42B4A917A0BC}"/>
              </a:ext>
            </a:extLst>
          </p:cNvPr>
          <p:cNvSpPr>
            <a:spLocks noGrp="1"/>
          </p:cNvSpPr>
          <p:nvPr/>
        </p:nvSpPr>
        <p:spPr>
          <a:xfrm>
            <a:off x="1162050" y="26536650"/>
            <a:ext cx="3905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55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defPPr>
            <a:lvl1pPr algn="l">
              <a:defRPr sz="55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55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55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55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55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55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55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55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55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55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5550" b="1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17 / 20</a:t>
            </a:r>
          </a:p>
        </p:txBody>
      </p:sp>
      <p:sp>
        <p:nvSpPr>
          <p:cNvPr id="1069" name="矩形 1068">
            <a:extLst>
              <a:ext uri="{FF2B5EF4-FFF2-40B4-BE49-F238E27FC236}">
                <a16:creationId xmlns:a16="http://schemas.microsoft.com/office/drawing/2014/main" id="{5FE408A3-AFC8-4481-BCCC-C2A3457D99FB}"/>
              </a:ext>
            </a:extLst>
          </p:cNvPr>
          <p:cNvSpPr>
            <a:spLocks noGrp="1"/>
          </p:cNvSpPr>
          <p:nvPr/>
        </p:nvSpPr>
        <p:spPr>
          <a:xfrm>
            <a:off x="4762500" y="26689050"/>
            <a:ext cx="5124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0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000" b="1">
                <a:solidFill>
                  <a:srgbClr val="0B7F88"/>
                </a:solidFill>
                <a:latin typeface="Calibri"/>
                <a:ea typeface="Calibri"/>
                <a:cs typeface="Calibri"/>
              </a:defRPr>
            </a:pPr>
            <a:r>
              <a:rPr sz="3000" b="1" dirty="0">
                <a:solidFill>
                  <a:srgbClr val="0B7F88"/>
                </a:solidFill>
                <a:latin typeface="Calibri"/>
                <a:ea typeface="Calibri"/>
                <a:cs typeface="Calibri"/>
              </a:rPr>
              <a:t>successful trials  ·  85%</a:t>
            </a:r>
          </a:p>
        </p:txBody>
      </p:sp>
      <p:sp>
        <p:nvSpPr>
          <p:cNvPr id="1070" name="矩形 1069">
            <a:extLst>
              <a:ext uri="{FF2B5EF4-FFF2-40B4-BE49-F238E27FC236}">
                <a16:creationId xmlns:a16="http://schemas.microsoft.com/office/drawing/2014/main" id="{23707644-FA2C-4667-B354-E632864E51EB}"/>
              </a:ext>
            </a:extLst>
          </p:cNvPr>
          <p:cNvSpPr>
            <a:spLocks noGrp="1"/>
          </p:cNvSpPr>
          <p:nvPr/>
        </p:nvSpPr>
        <p:spPr>
          <a:xfrm>
            <a:off x="1162050" y="27514547"/>
            <a:ext cx="8801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/>
          </a:bodyPr>
          <a:lstStyle>
            <a:defPPr algn="l">
              <a:defRPr sz="19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142B3D"/>
                </a:solidFill>
                <a:latin typeface="Calibri"/>
                <a:ea typeface="Calibri"/>
                <a:cs typeface="Calibri"/>
              </a:rPr>
              <a:t>95% exact CI: 62.1–96.8%  |  </a:t>
            </a:r>
            <a:r>
              <a:rPr lang="en-US" sz="1950" b="0" dirty="0">
                <a:solidFill>
                  <a:srgbClr val="142B3D"/>
                </a:solidFill>
                <a:latin typeface="Calibri"/>
                <a:ea typeface="Calibri"/>
                <a:cs typeface="Calibri"/>
              </a:rPr>
              <a:t>an </a:t>
            </a:r>
            <a:r>
              <a:rPr lang="zh-CN" altLang="zh-CN" dirty="0"/>
              <a:t>irregularly shaped part</a:t>
            </a:r>
            <a:r>
              <a:rPr sz="1950" b="0" dirty="0">
                <a:solidFill>
                  <a:srgbClr val="142B3D"/>
                </a:solidFill>
                <a:latin typeface="Calibri"/>
                <a:ea typeface="Calibri"/>
                <a:cs typeface="Calibri"/>
              </a:rPr>
              <a:t>; randomized starts; real hardware</a:t>
            </a:r>
          </a:p>
        </p:txBody>
      </p:sp>
      <p:sp>
        <p:nvSpPr>
          <p:cNvPr id="1071" name="矩形 1070">
            <a:extLst>
              <a:ext uri="{FF2B5EF4-FFF2-40B4-BE49-F238E27FC236}">
                <a16:creationId xmlns:a16="http://schemas.microsoft.com/office/drawing/2014/main" id="{9ECF7C08-2D74-4D3C-92F2-4D8C645F82CE}"/>
              </a:ext>
            </a:extLst>
          </p:cNvPr>
          <p:cNvSpPr>
            <a:spLocks noGrp="1"/>
          </p:cNvSpPr>
          <p:nvPr/>
        </p:nvSpPr>
        <p:spPr>
          <a:xfrm>
            <a:off x="1162050" y="28132617"/>
            <a:ext cx="8801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00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516171"/>
                </a:solidFill>
                <a:latin typeface="Calibri"/>
                <a:ea typeface="Calibri"/>
                <a:cs typeface="Calibri"/>
              </a:rPr>
              <a:t>ESP32 LSTM controller; 30 demonstrations; one evaluated checkpoint.</a:t>
            </a:r>
          </a:p>
        </p:txBody>
      </p:sp>
      <p:sp>
        <p:nvSpPr>
          <p:cNvPr id="1073" name="矩形 1072">
            <a:extLst>
              <a:ext uri="{FF2B5EF4-FFF2-40B4-BE49-F238E27FC236}">
                <a16:creationId xmlns:a16="http://schemas.microsoft.com/office/drawing/2014/main" id="{899AB54D-8278-42CA-9A6E-7A4C427C5DAE}"/>
              </a:ext>
            </a:extLst>
          </p:cNvPr>
          <p:cNvSpPr>
            <a:spLocks noGrp="1"/>
          </p:cNvSpPr>
          <p:nvPr/>
        </p:nvSpPr>
        <p:spPr>
          <a:xfrm>
            <a:off x="11220450" y="11249025"/>
            <a:ext cx="922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defPPr>
            <a:lvl1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3450" b="1" dirty="0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Complete TF tree</a:t>
            </a:r>
          </a:p>
        </p:txBody>
      </p:sp>
      <p:sp>
        <p:nvSpPr>
          <p:cNvPr id="1074" name="矩形 1073">
            <a:extLst>
              <a:ext uri="{FF2B5EF4-FFF2-40B4-BE49-F238E27FC236}">
                <a16:creationId xmlns:a16="http://schemas.microsoft.com/office/drawing/2014/main" id="{CD9C5B3E-4E3F-4FBD-B110-072FFE5DB1AD}"/>
              </a:ext>
            </a:extLst>
          </p:cNvPr>
          <p:cNvSpPr>
            <a:spLocks noGrp="1"/>
          </p:cNvSpPr>
          <p:nvPr/>
        </p:nvSpPr>
        <p:spPr>
          <a:xfrm>
            <a:off x="11220450" y="11839575"/>
            <a:ext cx="9220200" cy="47625"/>
          </a:xfrm>
          <a:prstGeom prst="rect">
            <a:avLst/>
          </a:prstGeom>
          <a:solidFill>
            <a:srgbClr val="0B7F8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5" name="矩形 1074">
            <a:extLst>
              <a:ext uri="{FF2B5EF4-FFF2-40B4-BE49-F238E27FC236}">
                <a16:creationId xmlns:a16="http://schemas.microsoft.com/office/drawing/2014/main" id="{BCBC0C9B-7727-49A5-82BD-ABF699FF9259}"/>
              </a:ext>
            </a:extLst>
          </p:cNvPr>
          <p:cNvSpPr>
            <a:spLocks noGrp="1"/>
          </p:cNvSpPr>
          <p:nvPr/>
        </p:nvSpPr>
        <p:spPr>
          <a:xfrm>
            <a:off x="11220450" y="11906250"/>
            <a:ext cx="9220200" cy="1236345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6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76" name="图片 1075">
            <a:extLst>
              <a:ext uri="{FF2B5EF4-FFF2-40B4-BE49-F238E27FC236}">
                <a16:creationId xmlns:a16="http://schemas.microsoft.com/office/drawing/2014/main" id="{C3D6F8C9-ADE2-4355-ABBD-B81733DC0E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1458575" y="12020550"/>
            <a:ext cx="8743950" cy="12039600"/>
          </a:xfrm>
          <a:prstGeom prst="rect">
            <a:avLst/>
          </a:prstGeom>
        </p:spPr>
      </p:pic>
      <p:sp>
        <p:nvSpPr>
          <p:cNvPr id="1077" name="矩形 1076">
            <a:extLst>
              <a:ext uri="{FF2B5EF4-FFF2-40B4-BE49-F238E27FC236}">
                <a16:creationId xmlns:a16="http://schemas.microsoft.com/office/drawing/2014/main" id="{24CB435A-1A97-4DA1-B212-81ED4FD1438D}"/>
              </a:ext>
            </a:extLst>
          </p:cNvPr>
          <p:cNvSpPr>
            <a:spLocks noGrp="1"/>
          </p:cNvSpPr>
          <p:nvPr/>
        </p:nvSpPr>
        <p:spPr>
          <a:xfrm>
            <a:off x="11220450" y="24288750"/>
            <a:ext cx="922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75" b="0">
                <a:solidFill>
                  <a:srgbClr val="516171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516171"/>
                </a:solidFill>
                <a:latin typeface="Calibri"/>
                <a:ea typeface="Calibri"/>
                <a:cs typeface="Calibri"/>
              </a:rPr>
              <a:t>Original ROS </a:t>
            </a:r>
            <a:r>
              <a:rPr sz="1875" b="0" dirty="0" err="1">
                <a:solidFill>
                  <a:srgbClr val="516171"/>
                </a:solidFill>
                <a:latin typeface="Calibri"/>
                <a:ea typeface="Calibri"/>
                <a:cs typeface="Calibri"/>
              </a:rPr>
              <a:t>view_frames</a:t>
            </a:r>
            <a:r>
              <a:rPr sz="1875" b="0" dirty="0">
                <a:solidFill>
                  <a:srgbClr val="516171"/>
                </a:solidFill>
                <a:latin typeface="Calibri"/>
                <a:ea typeface="Calibri"/>
                <a:cs typeface="Calibri"/>
              </a:rPr>
              <a:t> output. The tree shows frame connectivity; calibration accuracy needs separate validation.</a:t>
            </a:r>
          </a:p>
        </p:txBody>
      </p:sp>
      <p:sp>
        <p:nvSpPr>
          <p:cNvPr id="1078" name="矩形 1077">
            <a:extLst>
              <a:ext uri="{FF2B5EF4-FFF2-40B4-BE49-F238E27FC236}">
                <a16:creationId xmlns:a16="http://schemas.microsoft.com/office/drawing/2014/main" id="{5A1EEF22-B590-45E7-8E7F-A56B55B06CE8}"/>
              </a:ext>
            </a:extLst>
          </p:cNvPr>
          <p:cNvSpPr>
            <a:spLocks noGrp="1"/>
          </p:cNvSpPr>
          <p:nvPr/>
        </p:nvSpPr>
        <p:spPr>
          <a:xfrm>
            <a:off x="11220450" y="25146000"/>
            <a:ext cx="922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defPPr>
            <a:lvl1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450" b="1">
                <a:solidFill>
                  <a:srgbClr val="0C253E"/>
                </a:solidFill>
                <a:latin typeface="Calibri"/>
                <a:ea typeface="Calibri"/>
                <a:cs typeface="Calibri"/>
              </a:defRPr>
            </a:pPr>
            <a:r>
              <a:rPr sz="3450" b="1" dirty="0">
                <a:solidFill>
                  <a:srgbClr val="0C253E"/>
                </a:solidFill>
                <a:latin typeface="Calibri"/>
                <a:ea typeface="Calibri"/>
                <a:cs typeface="Calibri"/>
              </a:rPr>
              <a:t>Accuracy</a:t>
            </a:r>
          </a:p>
        </p:txBody>
      </p:sp>
      <p:sp>
        <p:nvSpPr>
          <p:cNvPr id="1079" name="矩形 1078">
            <a:extLst>
              <a:ext uri="{FF2B5EF4-FFF2-40B4-BE49-F238E27FC236}">
                <a16:creationId xmlns:a16="http://schemas.microsoft.com/office/drawing/2014/main" id="{69ADAEE0-FED8-4D5A-B681-E420862F6176}"/>
              </a:ext>
            </a:extLst>
          </p:cNvPr>
          <p:cNvSpPr>
            <a:spLocks noGrp="1"/>
          </p:cNvSpPr>
          <p:nvPr/>
        </p:nvSpPr>
        <p:spPr>
          <a:xfrm>
            <a:off x="11220450" y="25736550"/>
            <a:ext cx="9220200" cy="47625"/>
          </a:xfrm>
          <a:prstGeom prst="rect">
            <a:avLst/>
          </a:prstGeom>
          <a:solidFill>
            <a:srgbClr val="0B7F8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0" name="矩形 1079">
            <a:extLst>
              <a:ext uri="{FF2B5EF4-FFF2-40B4-BE49-F238E27FC236}">
                <a16:creationId xmlns:a16="http://schemas.microsoft.com/office/drawing/2014/main" id="{1E9AF93E-0900-4D48-A51B-866BF52DA227}"/>
              </a:ext>
            </a:extLst>
          </p:cNvPr>
          <p:cNvSpPr>
            <a:spLocks noGrp="1"/>
          </p:cNvSpPr>
          <p:nvPr/>
        </p:nvSpPr>
        <p:spPr>
          <a:xfrm>
            <a:off x="11220450" y="25955625"/>
            <a:ext cx="9220200" cy="2809875"/>
          </a:xfrm>
          <a:prstGeom prst="rect">
            <a:avLst/>
          </a:prstGeom>
          <a:solidFill>
            <a:srgbClr val="F5F9FA"/>
          </a:solidFill>
          <a:ln w="19050">
            <a:solidFill>
              <a:srgbClr val="0B7F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1" name="矩形 1080">
            <a:extLst>
              <a:ext uri="{FF2B5EF4-FFF2-40B4-BE49-F238E27FC236}">
                <a16:creationId xmlns:a16="http://schemas.microsoft.com/office/drawing/2014/main" id="{5A35AE41-6CE5-4EA2-9A45-F8BA8241A32C}"/>
              </a:ext>
            </a:extLst>
          </p:cNvPr>
          <p:cNvSpPr>
            <a:spLocks noGrp="1"/>
          </p:cNvSpPr>
          <p:nvPr/>
        </p:nvSpPr>
        <p:spPr>
          <a:xfrm>
            <a:off x="11410950" y="26098500"/>
            <a:ext cx="88392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142B3D"/>
                </a:solidFill>
                <a:latin typeface="Calibri"/>
                <a:ea typeface="Calibri"/>
                <a:cs typeface="Calibri"/>
              </a:rPr>
              <a:t>End-effector position: 2.96 mm mean ± 0.57 mm SD (n=6); held-out split unspecified</a:t>
            </a:r>
          </a:p>
        </p:txBody>
      </p:sp>
      <p:sp>
        <p:nvSpPr>
          <p:cNvPr id="1082" name="矩形 1081">
            <a:extLst>
              <a:ext uri="{FF2B5EF4-FFF2-40B4-BE49-F238E27FC236}">
                <a16:creationId xmlns:a16="http://schemas.microsoft.com/office/drawing/2014/main" id="{D64A037A-3141-4E2E-8A1B-62C62ECB9684}"/>
              </a:ext>
            </a:extLst>
          </p:cNvPr>
          <p:cNvSpPr>
            <a:spLocks noGrp="1"/>
          </p:cNvSpPr>
          <p:nvPr/>
        </p:nvSpPr>
        <p:spPr>
          <a:xfrm>
            <a:off x="11410950" y="26820988"/>
            <a:ext cx="883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142B3D"/>
                </a:solidFill>
                <a:latin typeface="Calibri"/>
                <a:ea typeface="Calibri"/>
                <a:cs typeface="Calibri"/>
              </a:rPr>
              <a:t>Camera reprojection: 0.30 </a:t>
            </a:r>
            <a:r>
              <a:rPr sz="1875" b="0" dirty="0" err="1">
                <a:solidFill>
                  <a:srgbClr val="142B3D"/>
                </a:solidFill>
                <a:latin typeface="Calibri"/>
                <a:ea typeface="Calibri"/>
                <a:cs typeface="Calibri"/>
              </a:rPr>
              <a:t>px</a:t>
            </a:r>
            <a:r>
              <a:rPr sz="1875" b="0" dirty="0">
                <a:solidFill>
                  <a:srgbClr val="142B3D"/>
                </a:solidFill>
                <a:latin typeface="Calibri"/>
                <a:ea typeface="Calibri"/>
                <a:cs typeface="Calibri"/>
              </a:rPr>
              <a:t> mean (n=25); calibration-set fit</a:t>
            </a:r>
          </a:p>
        </p:txBody>
      </p:sp>
      <p:sp>
        <p:nvSpPr>
          <p:cNvPr id="1083" name="矩形 1082">
            <a:extLst>
              <a:ext uri="{FF2B5EF4-FFF2-40B4-BE49-F238E27FC236}">
                <a16:creationId xmlns:a16="http://schemas.microsoft.com/office/drawing/2014/main" id="{FEA7D45A-0BFD-4494-9225-FE4AAA1356A9}"/>
              </a:ext>
            </a:extLst>
          </p:cNvPr>
          <p:cNvSpPr>
            <a:spLocks noGrp="1"/>
          </p:cNvSpPr>
          <p:nvPr/>
        </p:nvSpPr>
        <p:spPr>
          <a:xfrm>
            <a:off x="11410950" y="27476801"/>
            <a:ext cx="883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142B3D"/>
                </a:solidFill>
                <a:latin typeface="Calibri"/>
                <a:ea typeface="Calibri"/>
                <a:cs typeface="Calibri"/>
              </a:rPr>
              <a:t>Camera-to-robot alignment: 1.18 mm RMS (n=12); correspondence fit</a:t>
            </a:r>
          </a:p>
        </p:txBody>
      </p:sp>
      <p:sp>
        <p:nvSpPr>
          <p:cNvPr id="1084" name="矩形 1083">
            <a:extLst>
              <a:ext uri="{FF2B5EF4-FFF2-40B4-BE49-F238E27FC236}">
                <a16:creationId xmlns:a16="http://schemas.microsoft.com/office/drawing/2014/main" id="{35FD7187-2ADC-4B07-AB98-8C451EDFDAEB}"/>
              </a:ext>
            </a:extLst>
          </p:cNvPr>
          <p:cNvSpPr>
            <a:spLocks noGrp="1"/>
          </p:cNvSpPr>
          <p:nvPr/>
        </p:nvSpPr>
        <p:spPr>
          <a:xfrm>
            <a:off x="11410950" y="28132615"/>
            <a:ext cx="883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75" b="0">
                <a:solidFill>
                  <a:srgbClr val="142B3D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142B3D"/>
                </a:solidFill>
                <a:latin typeface="Calibri"/>
                <a:ea typeface="Calibri"/>
                <a:cs typeface="Calibri"/>
              </a:rPr>
              <a:t>Trajectory tracking: 2.9 mm MAE; sample count not reported</a:t>
            </a:r>
          </a:p>
        </p:txBody>
      </p:sp>
    </p:spTree>
    <p:extLst>
      <p:ext uri="{BB962C8B-B14F-4D97-AF65-F5344CB8AC3E}">
        <p14:creationId xmlns:p14="http://schemas.microsoft.com/office/powerpoint/2010/main" val="278268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317</Words>
  <Application>Microsoft Office PowerPoint</Application>
  <DocSecurity>0</DocSecurity>
  <PresentationFormat>自定义</PresentationFormat>
  <Paragraphs>41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子凡 徐</cp:lastModifiedBy>
  <cp:revision>2</cp:revision>
  <dcterms:created xsi:type="dcterms:W3CDTF">2026-10-17T09:33:00Z</dcterms:created>
  <dcterms:modified xsi:type="dcterms:W3CDTF">2026-10-17T10:11:32Z</dcterms:modified>
</cp:coreProperties>
</file>